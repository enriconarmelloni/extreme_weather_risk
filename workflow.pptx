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2052" y="1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B32E8A-A8D4-4595-B7C3-C4CE4A3148B2}" type="datetimeFigureOut">
              <a:rPr lang="sv-SE" smtClean="0"/>
              <a:t>2026-03-30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E0DF74-52D5-4FE3-B54D-F7AB1BF6D88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99571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E0DF74-52D5-4FE3-B54D-F7AB1BF6D88A}" type="slidenum">
              <a:rPr lang="sv-SE" smtClean="0"/>
              <a:t>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50773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1C5A1-F2FF-3DBF-0F93-46CE517587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6EC0A9-2B23-13AF-154C-88AA41C2A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4B6A8-7B3F-FF11-461B-A6083CABC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4BA9F-D751-4AA6-9BEF-8F2782189DA9}" type="datetimeFigureOut">
              <a:rPr lang="sv-SE" smtClean="0"/>
              <a:t>2026-03-30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703CE-6717-5AB5-9EF3-3990FE817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558E9-BDB9-185B-5AC5-D18C51E95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FEC3A-E2B0-4831-8D29-E55AC042760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013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FCFE7-492F-76A8-EF48-23C9E1DF5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08990-9883-E56F-30A2-9826530D4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E97F5-D283-1AFA-7D43-2A515D714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4BA9F-D751-4AA6-9BEF-8F2782189DA9}" type="datetimeFigureOut">
              <a:rPr lang="sv-SE" smtClean="0"/>
              <a:t>2026-03-30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704CC-7D9B-7CA4-44A6-C6E1A6772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19837-CAA3-7C24-75C1-1779E6AE7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FEC3A-E2B0-4831-8D29-E55AC042760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26741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07BDB-86BE-D0CC-E7D3-A028EFA62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F4461A-7043-FEA0-7AC9-C139009C9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68A81-AB9B-77E8-956D-2B3AF72EF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4BA9F-D751-4AA6-9BEF-8F2782189DA9}" type="datetimeFigureOut">
              <a:rPr lang="sv-SE" smtClean="0"/>
              <a:t>2026-03-30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E177D-287A-5CA5-F6DB-FC28EEA56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9FA77-F77E-C9D4-2901-C7672EF50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FEC3A-E2B0-4831-8D29-E55AC042760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48932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5325C-49F6-8B78-4E6D-9CD855CA2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C560F-D6A6-BF84-C284-3AF8721458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5D6B2F-F800-C519-D01F-11078DA88A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EAC6E6-715E-C98E-AE00-37927F73A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4BA9F-D751-4AA6-9BEF-8F2782189DA9}" type="datetimeFigureOut">
              <a:rPr lang="sv-SE" smtClean="0"/>
              <a:t>2026-03-30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5854D5-789F-9325-B012-F35EC56C7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5B3634-4C64-407B-0DCE-F4EB5AB68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FEC3A-E2B0-4831-8D29-E55AC042760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10744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33F6A-7C6F-BA01-8DCC-5E2220F4C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68D659-B961-1600-6001-402D19E33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8A31AC-ED80-9BAC-535B-3A6B54C069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AD5B55-A302-839D-3964-AD5693B166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A5A278-637D-0798-AE7B-B4BA9FD6E2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19DD9F-77CF-AD46-E3A9-252CADFEA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4BA9F-D751-4AA6-9BEF-8F2782189DA9}" type="datetimeFigureOut">
              <a:rPr lang="sv-SE" smtClean="0"/>
              <a:t>2026-03-30</a:t>
            </a:fld>
            <a:endParaRPr lang="sv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8000A9-16E1-59E8-2DB5-609AB17E1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B733E1-8270-648F-AD8D-0E0ECA4BE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FEC3A-E2B0-4831-8D29-E55AC042760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87973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EBDFB-1C59-776A-2179-89F2C21E3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969E8B-86C6-1C33-780F-6C1CFD7B5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4BA9F-D751-4AA6-9BEF-8F2782189DA9}" type="datetimeFigureOut">
              <a:rPr lang="sv-SE" smtClean="0"/>
              <a:t>2026-03-30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F4B67B-ADAF-1DF7-A8EE-F7D8B7AE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7E9900-3EF7-3808-5F5B-FC8749638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FEC3A-E2B0-4831-8D29-E55AC042760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83573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0C304F-0F87-980E-9741-AE18F48EB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4BA9F-D751-4AA6-9BEF-8F2782189DA9}" type="datetimeFigureOut">
              <a:rPr lang="sv-SE" smtClean="0"/>
              <a:t>2026-03-30</a:t>
            </a:fld>
            <a:endParaRPr lang="sv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10FB48-B86C-BA0F-CFFE-3CE056470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20AE46-8344-42B5-FE61-5F21E4EF9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FEC3A-E2B0-4831-8D29-E55AC042760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01421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10BB2-F8F2-CF0C-B529-32097BE62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1EA01-7A12-FF2E-5D23-EE0541A8F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4621-3D11-5A0F-1819-6D8B9CA53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D68D6F-FD75-958D-2450-2ED4E5C06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4BA9F-D751-4AA6-9BEF-8F2782189DA9}" type="datetimeFigureOut">
              <a:rPr lang="sv-SE" smtClean="0"/>
              <a:t>2026-03-30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78076A-0A58-45FF-B2B8-2CA8F31DD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3EF5EE-EF8C-B337-809C-572A91A11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FEC3A-E2B0-4831-8D29-E55AC042760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4385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BB864-5D5B-B775-8D63-9F47E2337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90E728-0962-BC04-825B-EA85C1A93B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AE1D17-573C-E90E-5D36-D9CA356AD3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274C89-5522-E907-9A03-1B4147176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4BA9F-D751-4AA6-9BEF-8F2782189DA9}" type="datetimeFigureOut">
              <a:rPr lang="sv-SE" smtClean="0"/>
              <a:t>2026-03-30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EBEAD6-2827-E8FD-4C9E-7ACE5D879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E39115-5964-E068-C5EE-C6E74CFAD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FEC3A-E2B0-4831-8D29-E55AC042760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08239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92BD7-DCA7-8E1E-5AF2-389530012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A386DB-88AD-38F5-E7CA-B8750707EB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7BA04-2AC5-BC8C-772B-BF01D205F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4BA9F-D751-4AA6-9BEF-8F2782189DA9}" type="datetimeFigureOut">
              <a:rPr lang="sv-SE" smtClean="0"/>
              <a:t>2026-03-30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14D39-1F01-EAF4-40CD-F5008E22C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F0C45-6909-BE85-37DD-48C596332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FEC3A-E2B0-4831-8D29-E55AC042760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7073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B06DFF-3A85-93B8-2D7A-EE229D3440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92C03-092F-4A09-99F3-36D2061A28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6A2BC-D498-7650-3429-ED4241B4D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4BA9F-D751-4AA6-9BEF-8F2782189DA9}" type="datetimeFigureOut">
              <a:rPr lang="sv-SE" smtClean="0"/>
              <a:t>2026-03-30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BAB43-D58F-C538-654C-47508B2E8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E463C-ABAD-B0D1-6D0B-DBE2A831F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FEC3A-E2B0-4831-8D29-E55AC042760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8316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7536B7-EBA4-9FF3-F78F-B78F40E5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60D807-82B5-4DBD-C9CC-C6848F9A1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8B9DD-9447-0B7F-092B-4ABBC94ED7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64BA9F-D751-4AA6-9BEF-8F2782189DA9}" type="datetimeFigureOut">
              <a:rPr lang="sv-SE" smtClean="0"/>
              <a:t>2026-03-30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3B69B-0FF4-4D92-5545-96EFB1DEEE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4F71B-AA8B-2329-FCBF-C32B825904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BFEC3A-E2B0-4831-8D29-E55AC042760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81195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8A10C-1A3E-34A5-A1E7-DAF47AB917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852CE5-72BD-603C-821B-A39072BCBF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82731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1C67ECD6-E2CC-4B2D-F480-30730849ACBF}"/>
              </a:ext>
            </a:extLst>
          </p:cNvPr>
          <p:cNvSpPr/>
          <p:nvPr/>
        </p:nvSpPr>
        <p:spPr>
          <a:xfrm>
            <a:off x="-110063" y="285807"/>
            <a:ext cx="13723928" cy="178646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A7BA63-0055-4035-1393-6421B0ABAF04}"/>
              </a:ext>
            </a:extLst>
          </p:cNvPr>
          <p:cNvSpPr/>
          <p:nvPr/>
        </p:nvSpPr>
        <p:spPr>
          <a:xfrm>
            <a:off x="-6431279" y="300567"/>
            <a:ext cx="6253484" cy="178646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51219072-BF4D-630F-D404-1EDC18B42145}"/>
              </a:ext>
            </a:extLst>
          </p:cNvPr>
          <p:cNvSpPr/>
          <p:nvPr/>
        </p:nvSpPr>
        <p:spPr>
          <a:xfrm>
            <a:off x="-3509909" y="-1359932"/>
            <a:ext cx="2438400" cy="104140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/>
              <a:t>Interviews</a:t>
            </a:r>
            <a:endParaRPr lang="sv-S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6906F2-6714-66D6-36C9-DA2BFD0C07C9}"/>
              </a:ext>
            </a:extLst>
          </p:cNvPr>
          <p:cNvSpPr/>
          <p:nvPr/>
        </p:nvSpPr>
        <p:spPr>
          <a:xfrm>
            <a:off x="-3877734" y="859365"/>
            <a:ext cx="1134534" cy="49953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00" dirty="0" err="1"/>
              <a:t>Questionnaires_coded</a:t>
            </a:r>
            <a:endParaRPr lang="sv-SE" sz="11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84D7A9-127E-CF7A-F0D1-4BF2571E1D78}"/>
              </a:ext>
            </a:extLst>
          </p:cNvPr>
          <p:cNvSpPr/>
          <p:nvPr/>
        </p:nvSpPr>
        <p:spPr>
          <a:xfrm>
            <a:off x="-1964741" y="686014"/>
            <a:ext cx="1211207" cy="67288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00" dirty="0" err="1"/>
              <a:t>Values</a:t>
            </a:r>
            <a:r>
              <a:rPr lang="sv-SE" sz="1100" dirty="0"/>
              <a:t> -&gt; new </a:t>
            </a:r>
            <a:r>
              <a:rPr lang="sv-SE" sz="1100" dirty="0" err="1"/>
              <a:t>name</a:t>
            </a:r>
            <a:r>
              <a:rPr lang="sv-SE" sz="1100" dirty="0"/>
              <a:t> is </a:t>
            </a:r>
            <a:r>
              <a:rPr lang="sv-SE" sz="1100" dirty="0" err="1"/>
              <a:t>dialogues_raw</a:t>
            </a:r>
            <a:endParaRPr lang="sv-SE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ABE2EB-30D5-9305-5F8F-122366350CF2}"/>
              </a:ext>
            </a:extLst>
          </p:cNvPr>
          <p:cNvSpPr txBox="1"/>
          <p:nvPr/>
        </p:nvSpPr>
        <p:spPr>
          <a:xfrm>
            <a:off x="-5232400" y="263499"/>
            <a:ext cx="194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Datasets</a:t>
            </a:r>
            <a:r>
              <a:rPr lang="sv-SE" dirty="0"/>
              <a:t> </a:t>
            </a:r>
            <a:r>
              <a:rPr lang="sv-SE" dirty="0" err="1"/>
              <a:t>editable</a:t>
            </a:r>
            <a:endParaRPr lang="sv-SE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62F3F7-A663-B204-F4E7-BE57D615B98F}"/>
              </a:ext>
            </a:extLst>
          </p:cNvPr>
          <p:cNvSpPr/>
          <p:nvPr/>
        </p:nvSpPr>
        <p:spPr>
          <a:xfrm>
            <a:off x="-6431278" y="2124101"/>
            <a:ext cx="20045144" cy="178646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FC6E4A-7ABA-9B48-651B-9BF0865CE7B4}"/>
              </a:ext>
            </a:extLst>
          </p:cNvPr>
          <p:cNvSpPr txBox="1"/>
          <p:nvPr/>
        </p:nvSpPr>
        <p:spPr>
          <a:xfrm>
            <a:off x="-5300133" y="2124101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Code</a:t>
            </a:r>
            <a:endParaRPr lang="sv-S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4B3418-71B0-5304-A1B9-D356BD0C2100}"/>
              </a:ext>
            </a:extLst>
          </p:cNvPr>
          <p:cNvSpPr txBox="1"/>
          <p:nvPr/>
        </p:nvSpPr>
        <p:spPr>
          <a:xfrm>
            <a:off x="-4055534" y="1395966"/>
            <a:ext cx="1710267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050" dirty="0" err="1"/>
              <a:t>Contains</a:t>
            </a:r>
            <a:r>
              <a:rPr lang="sv-SE" sz="1050" dirty="0"/>
              <a:t> </a:t>
            </a:r>
            <a:r>
              <a:rPr lang="sv-SE" sz="1050" dirty="0" err="1"/>
              <a:t>values</a:t>
            </a:r>
            <a:r>
              <a:rPr lang="sv-SE" sz="1050" dirty="0"/>
              <a:t> for </a:t>
            </a:r>
            <a:r>
              <a:rPr lang="sv-SE" sz="1050" dirty="0" err="1"/>
              <a:t>each</a:t>
            </a:r>
            <a:r>
              <a:rPr lang="sv-SE" sz="1050" dirty="0"/>
              <a:t> </a:t>
            </a:r>
            <a:r>
              <a:rPr lang="sv-SE" sz="1050" dirty="0" err="1"/>
              <a:t>answer</a:t>
            </a:r>
            <a:r>
              <a:rPr lang="sv-SE" sz="1050" dirty="0"/>
              <a:t> </a:t>
            </a:r>
            <a:r>
              <a:rPr lang="sv-SE" sz="1050" dirty="0" err="1"/>
              <a:t>after</a:t>
            </a:r>
            <a:r>
              <a:rPr lang="sv-SE" sz="1050" dirty="0"/>
              <a:t> </a:t>
            </a:r>
            <a:r>
              <a:rPr lang="sv-SE" sz="1050" dirty="0" err="1"/>
              <a:t>our</a:t>
            </a:r>
            <a:r>
              <a:rPr lang="sv-SE" sz="1050" dirty="0"/>
              <a:t> revision. It is </a:t>
            </a:r>
            <a:r>
              <a:rPr lang="sv-SE" sz="1050" dirty="0" err="1"/>
              <a:t>what</a:t>
            </a:r>
            <a:r>
              <a:rPr lang="sv-SE" sz="1050" dirty="0"/>
              <a:t> </a:t>
            </a:r>
            <a:r>
              <a:rPr lang="sv-SE" sz="1050" dirty="0" err="1"/>
              <a:t>feed</a:t>
            </a:r>
            <a:r>
              <a:rPr lang="sv-SE" sz="1050" dirty="0"/>
              <a:t> the </a:t>
            </a:r>
            <a:r>
              <a:rPr lang="sv-SE" sz="1050" dirty="0" err="1"/>
              <a:t>analysis</a:t>
            </a:r>
            <a:endParaRPr lang="sv-SE" sz="10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31718C-F233-1D7E-434F-6B732D58B6AC}"/>
              </a:ext>
            </a:extLst>
          </p:cNvPr>
          <p:cNvSpPr txBox="1"/>
          <p:nvPr/>
        </p:nvSpPr>
        <p:spPr>
          <a:xfrm>
            <a:off x="-2091267" y="1353634"/>
            <a:ext cx="17102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050" dirty="0" err="1"/>
              <a:t>Contains</a:t>
            </a:r>
            <a:r>
              <a:rPr lang="sv-SE" sz="1050" dirty="0"/>
              <a:t> </a:t>
            </a:r>
            <a:r>
              <a:rPr lang="sv-SE" sz="1050" dirty="0" err="1"/>
              <a:t>raw</a:t>
            </a:r>
            <a:r>
              <a:rPr lang="sv-SE" sz="1050" dirty="0"/>
              <a:t> </a:t>
            </a:r>
            <a:r>
              <a:rPr lang="sv-SE" sz="1050" dirty="0" err="1"/>
              <a:t>values</a:t>
            </a:r>
            <a:r>
              <a:rPr lang="sv-SE" sz="1050" dirty="0"/>
              <a:t> from </a:t>
            </a:r>
            <a:r>
              <a:rPr lang="sv-SE" sz="1050" dirty="0" err="1"/>
              <a:t>interviews</a:t>
            </a:r>
            <a:r>
              <a:rPr lang="sv-SE" sz="1050" dirty="0"/>
              <a:t> and </a:t>
            </a:r>
            <a:r>
              <a:rPr lang="sv-SE" sz="1050" dirty="0" err="1"/>
              <a:t>additional</a:t>
            </a:r>
            <a:r>
              <a:rPr lang="sv-SE" sz="1050" dirty="0"/>
              <a:t> </a:t>
            </a:r>
            <a:r>
              <a:rPr lang="sv-SE" sz="1050" dirty="0" err="1"/>
              <a:t>sheets</a:t>
            </a:r>
            <a:r>
              <a:rPr lang="sv-SE" sz="1050" dirty="0"/>
              <a:t> for </a:t>
            </a:r>
            <a:r>
              <a:rPr lang="sv-SE" sz="1050" dirty="0" err="1"/>
              <a:t>decribing</a:t>
            </a:r>
            <a:r>
              <a:rPr lang="sv-SE" sz="1050" dirty="0"/>
              <a:t> the </a:t>
            </a:r>
            <a:r>
              <a:rPr lang="sv-SE" sz="1050" dirty="0" err="1"/>
              <a:t>questionnaire</a:t>
            </a:r>
            <a:endParaRPr lang="sv-SE" sz="105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C08D880-5572-8051-5711-2989AF46878A}"/>
              </a:ext>
            </a:extLst>
          </p:cNvPr>
          <p:cNvSpPr/>
          <p:nvPr/>
        </p:nvSpPr>
        <p:spPr>
          <a:xfrm>
            <a:off x="-3069168" y="2978198"/>
            <a:ext cx="1651001" cy="5576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00" dirty="0"/>
              <a:t>Step1_coding </a:t>
            </a:r>
            <a:r>
              <a:rPr lang="sv-SE" sz="1100" dirty="0" err="1"/>
              <a:t>treatment</a:t>
            </a:r>
            <a:endParaRPr lang="sv-SE" sz="11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977D378-04BB-AA75-9DD6-51744CD00BB2}"/>
              </a:ext>
            </a:extLst>
          </p:cNvPr>
          <p:cNvCxnSpPr/>
          <p:nvPr/>
        </p:nvCxnSpPr>
        <p:spPr>
          <a:xfrm flipH="1">
            <a:off x="-3336207" y="-236962"/>
            <a:ext cx="732366" cy="8995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853734D-73CB-C776-8614-0859961459D0}"/>
              </a:ext>
            </a:extLst>
          </p:cNvPr>
          <p:cNvCxnSpPr>
            <a:cxnSpLocks/>
          </p:cNvCxnSpPr>
          <p:nvPr/>
        </p:nvCxnSpPr>
        <p:spPr>
          <a:xfrm>
            <a:off x="-1909235" y="-197110"/>
            <a:ext cx="673101" cy="8596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3B0C08D3-3358-3787-53BF-05C0717F426B}"/>
              </a:ext>
            </a:extLst>
          </p:cNvPr>
          <p:cNvSpPr/>
          <p:nvPr/>
        </p:nvSpPr>
        <p:spPr>
          <a:xfrm>
            <a:off x="436032" y="854101"/>
            <a:ext cx="1134534" cy="4995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00" dirty="0"/>
              <a:t>coding_report_unc.csv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5966E9C-79A9-B866-8224-5DD8E28AF626}"/>
              </a:ext>
            </a:extLst>
          </p:cNvPr>
          <p:cNvCxnSpPr>
            <a:cxnSpLocks/>
          </p:cNvCxnSpPr>
          <p:nvPr/>
        </p:nvCxnSpPr>
        <p:spPr>
          <a:xfrm>
            <a:off x="-3276942" y="1960753"/>
            <a:ext cx="673101" cy="8596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B452712-E4F4-8E7A-8FED-4E1F723398EA}"/>
              </a:ext>
            </a:extLst>
          </p:cNvPr>
          <p:cNvCxnSpPr>
            <a:cxnSpLocks/>
          </p:cNvCxnSpPr>
          <p:nvPr/>
        </p:nvCxnSpPr>
        <p:spPr>
          <a:xfrm flipH="1">
            <a:off x="-1808317" y="2091446"/>
            <a:ext cx="444841" cy="7705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D2BA8901-FC39-F193-DBF4-DF7CD28BB69F}"/>
              </a:ext>
            </a:extLst>
          </p:cNvPr>
          <p:cNvSpPr/>
          <p:nvPr/>
        </p:nvSpPr>
        <p:spPr>
          <a:xfrm>
            <a:off x="-6431278" y="3962395"/>
            <a:ext cx="20045144" cy="178646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63D903-D211-856C-DBE2-DD211CC8D631}"/>
              </a:ext>
            </a:extLst>
          </p:cNvPr>
          <p:cNvSpPr txBox="1"/>
          <p:nvPr/>
        </p:nvSpPr>
        <p:spPr>
          <a:xfrm>
            <a:off x="-5264351" y="3910567"/>
            <a:ext cx="1334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Markdowns</a:t>
            </a:r>
            <a:endParaRPr lang="sv-SE" dirty="0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A578CAA2-F740-1C53-5F8D-1249C4D1F37D}"/>
              </a:ext>
            </a:extLst>
          </p:cNvPr>
          <p:cNvCxnSpPr>
            <a:cxnSpLocks/>
          </p:cNvCxnSpPr>
          <p:nvPr/>
        </p:nvCxnSpPr>
        <p:spPr>
          <a:xfrm flipV="1">
            <a:off x="-1598759" y="1394366"/>
            <a:ext cx="2324100" cy="190339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A27DBA3-C3F0-C412-5BE4-390BF4986B32}"/>
              </a:ext>
            </a:extLst>
          </p:cNvPr>
          <p:cNvSpPr txBox="1"/>
          <p:nvPr/>
        </p:nvSpPr>
        <p:spPr>
          <a:xfrm>
            <a:off x="148165" y="258486"/>
            <a:ext cx="1710267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050" dirty="0" err="1"/>
              <a:t>Formatted</a:t>
            </a:r>
            <a:r>
              <a:rPr lang="sv-SE" sz="1050" dirty="0"/>
              <a:t> input data for the </a:t>
            </a:r>
            <a:r>
              <a:rPr lang="sv-SE" sz="1050" dirty="0" err="1"/>
              <a:t>analysis</a:t>
            </a:r>
            <a:r>
              <a:rPr lang="sv-SE" sz="1050" dirty="0"/>
              <a:t>, </a:t>
            </a:r>
            <a:r>
              <a:rPr lang="sv-SE" sz="1050" dirty="0" err="1"/>
              <a:t>including</a:t>
            </a:r>
            <a:r>
              <a:rPr lang="sv-SE" sz="1050" dirty="0"/>
              <a:t> assignation </a:t>
            </a:r>
            <a:r>
              <a:rPr lang="sv-SE" sz="1050" dirty="0" err="1"/>
              <a:t>of</a:t>
            </a:r>
            <a:r>
              <a:rPr lang="sv-SE" sz="1050" dirty="0"/>
              <a:t> </a:t>
            </a:r>
            <a:r>
              <a:rPr lang="sv-SE" sz="1050" dirty="0" err="1"/>
              <a:t>uncertainty</a:t>
            </a:r>
            <a:endParaRPr lang="sv-SE" sz="105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1E4E41B-2A6C-F175-53AD-3889CE1418BE}"/>
              </a:ext>
            </a:extLst>
          </p:cNvPr>
          <p:cNvSpPr/>
          <p:nvPr/>
        </p:nvSpPr>
        <p:spPr>
          <a:xfrm>
            <a:off x="-3949017" y="4143245"/>
            <a:ext cx="1532152" cy="7592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00" dirty="0" err="1"/>
              <a:t>A_results_interpretation</a:t>
            </a:r>
            <a:endParaRPr lang="sv-SE" sz="11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3CF2610-0AE7-5EB4-4416-A9015E3C6AFB}"/>
              </a:ext>
            </a:extLst>
          </p:cNvPr>
          <p:cNvSpPr/>
          <p:nvPr/>
        </p:nvSpPr>
        <p:spPr>
          <a:xfrm>
            <a:off x="3675615" y="662568"/>
            <a:ext cx="1134534" cy="4995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00" dirty="0"/>
              <a:t>relevance.csv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2B45C4-9023-AACD-70BA-EE497C35CE26}"/>
              </a:ext>
            </a:extLst>
          </p:cNvPr>
          <p:cNvSpPr txBox="1"/>
          <p:nvPr/>
        </p:nvSpPr>
        <p:spPr>
          <a:xfrm>
            <a:off x="11640105" y="232729"/>
            <a:ext cx="1995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Datasets</a:t>
            </a:r>
            <a:r>
              <a:rPr lang="sv-SE" dirty="0"/>
              <a:t> </a:t>
            </a:r>
            <a:r>
              <a:rPr lang="sv-SE" dirty="0" err="1"/>
              <a:t>readonly</a:t>
            </a:r>
            <a:endParaRPr lang="sv-SE" dirty="0"/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A6B5B2CA-63BD-26ED-500D-993F1D1220F4}"/>
              </a:ext>
            </a:extLst>
          </p:cNvPr>
          <p:cNvCxnSpPr>
            <a:cxnSpLocks/>
          </p:cNvCxnSpPr>
          <p:nvPr/>
        </p:nvCxnSpPr>
        <p:spPr>
          <a:xfrm flipV="1">
            <a:off x="-2290709" y="977893"/>
            <a:ext cx="5776667" cy="3517781"/>
          </a:xfrm>
          <a:prstGeom prst="bentConnector3">
            <a:avLst>
              <a:gd name="adj1" fmla="val 8236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7EDFCAA-E57E-12B5-1342-64FC3085E40B}"/>
              </a:ext>
            </a:extLst>
          </p:cNvPr>
          <p:cNvSpPr txBox="1"/>
          <p:nvPr/>
        </p:nvSpPr>
        <p:spPr>
          <a:xfrm>
            <a:off x="3372504" y="1113844"/>
            <a:ext cx="171026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050" dirty="0" err="1"/>
              <a:t>Percentage</a:t>
            </a:r>
            <a:r>
              <a:rPr lang="sv-SE" sz="1050" dirty="0"/>
              <a:t> </a:t>
            </a:r>
            <a:r>
              <a:rPr lang="sv-SE" sz="1050" dirty="0" err="1"/>
              <a:t>of</a:t>
            </a:r>
            <a:r>
              <a:rPr lang="sv-SE" sz="1050" dirty="0"/>
              <a:t> </a:t>
            </a:r>
            <a:r>
              <a:rPr lang="sv-SE" sz="1050" dirty="0" err="1"/>
              <a:t>answers</a:t>
            </a:r>
            <a:r>
              <a:rPr lang="sv-SE" sz="1050" dirty="0"/>
              <a:t> by event and </a:t>
            </a:r>
            <a:r>
              <a:rPr lang="sv-SE" sz="1050" dirty="0" err="1"/>
              <a:t>fisher</a:t>
            </a:r>
            <a:endParaRPr lang="sv-SE" sz="105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2ACBB7F-B2AA-668E-C10D-BDE31338057C}"/>
              </a:ext>
            </a:extLst>
          </p:cNvPr>
          <p:cNvSpPr/>
          <p:nvPr/>
        </p:nvSpPr>
        <p:spPr>
          <a:xfrm>
            <a:off x="-3069168" y="5032834"/>
            <a:ext cx="1532152" cy="7592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00" dirty="0" err="1"/>
              <a:t>A_interviews</a:t>
            </a:r>
            <a:endParaRPr lang="sv-SE" sz="1100" dirty="0"/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231E4E28-4A58-F3A5-7DAC-82A58FBFB3F6}"/>
              </a:ext>
            </a:extLst>
          </p:cNvPr>
          <p:cNvCxnSpPr>
            <a:cxnSpLocks/>
          </p:cNvCxnSpPr>
          <p:nvPr/>
        </p:nvCxnSpPr>
        <p:spPr>
          <a:xfrm rot="5400000">
            <a:off x="-2072831" y="2161140"/>
            <a:ext cx="3899185" cy="2511344"/>
          </a:xfrm>
          <a:prstGeom prst="bentConnector3">
            <a:avLst>
              <a:gd name="adj1" fmla="val 10002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14422124-572B-3F3F-99C0-13BE742B8B76}"/>
              </a:ext>
            </a:extLst>
          </p:cNvPr>
          <p:cNvCxnSpPr>
            <a:cxnSpLocks/>
          </p:cNvCxnSpPr>
          <p:nvPr/>
        </p:nvCxnSpPr>
        <p:spPr>
          <a:xfrm rot="5400000">
            <a:off x="-2909006" y="3458934"/>
            <a:ext cx="3544149" cy="653250"/>
          </a:xfrm>
          <a:prstGeom prst="bentConnector3">
            <a:avLst>
              <a:gd name="adj1" fmla="val 10016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0ACC1F1-1528-C386-F0F4-F58178C61305}"/>
              </a:ext>
            </a:extLst>
          </p:cNvPr>
          <p:cNvSpPr/>
          <p:nvPr/>
        </p:nvSpPr>
        <p:spPr>
          <a:xfrm>
            <a:off x="-6201274" y="632832"/>
            <a:ext cx="1328707" cy="70856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00" dirty="0" err="1"/>
              <a:t>Coding_revision_all</a:t>
            </a:r>
            <a:r>
              <a:rPr lang="sv-SE" sz="1100" dirty="0"/>
              <a:t> -&gt; new </a:t>
            </a:r>
            <a:r>
              <a:rPr lang="sv-SE" sz="1100" dirty="0" err="1"/>
              <a:t>name</a:t>
            </a:r>
            <a:r>
              <a:rPr lang="sv-SE" sz="1100" dirty="0"/>
              <a:t> is </a:t>
            </a:r>
            <a:r>
              <a:rPr lang="sv-SE" sz="1100" dirty="0" err="1"/>
              <a:t>coding_expert_revision_blind</a:t>
            </a:r>
            <a:endParaRPr lang="sv-SE" sz="11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86DE90B-89CC-E00E-4D49-436EF5DA52C4}"/>
              </a:ext>
            </a:extLst>
          </p:cNvPr>
          <p:cNvSpPr txBox="1"/>
          <p:nvPr/>
        </p:nvSpPr>
        <p:spPr>
          <a:xfrm>
            <a:off x="-6172894" y="1383415"/>
            <a:ext cx="171026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050" dirty="0"/>
              <a:t>Expert interpretation </a:t>
            </a:r>
            <a:r>
              <a:rPr lang="sv-SE" sz="1050" dirty="0" err="1"/>
              <a:t>of</a:t>
            </a:r>
            <a:r>
              <a:rPr lang="sv-SE" sz="1050" dirty="0"/>
              <a:t> </a:t>
            </a:r>
            <a:r>
              <a:rPr lang="sv-SE" sz="1050" dirty="0" err="1"/>
              <a:t>some</a:t>
            </a:r>
            <a:r>
              <a:rPr lang="sv-SE" sz="1050" dirty="0"/>
              <a:t> </a:t>
            </a:r>
            <a:r>
              <a:rPr lang="sv-SE" sz="1050" dirty="0" err="1"/>
              <a:t>answers</a:t>
            </a:r>
            <a:endParaRPr lang="sv-SE" sz="1050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B3CD287-DF6B-0454-C153-883E66E98FF8}"/>
              </a:ext>
            </a:extLst>
          </p:cNvPr>
          <p:cNvCxnSpPr>
            <a:cxnSpLocks/>
          </p:cNvCxnSpPr>
          <p:nvPr/>
        </p:nvCxnSpPr>
        <p:spPr>
          <a:xfrm>
            <a:off x="-4718413" y="1111165"/>
            <a:ext cx="653918" cy="69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45BDEBDB-B869-3B90-6B7D-0249746F5803}"/>
              </a:ext>
            </a:extLst>
          </p:cNvPr>
          <p:cNvCxnSpPr>
            <a:cxnSpLocks/>
          </p:cNvCxnSpPr>
          <p:nvPr/>
        </p:nvCxnSpPr>
        <p:spPr>
          <a:xfrm rot="16200000" flipH="1">
            <a:off x="-6013087" y="2534005"/>
            <a:ext cx="2562126" cy="1415621"/>
          </a:xfrm>
          <a:prstGeom prst="bentConnector3">
            <a:avLst>
              <a:gd name="adj1" fmla="val 10036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B00415F9-C38C-05EF-1B40-E0AEEBA82282}"/>
              </a:ext>
            </a:extLst>
          </p:cNvPr>
          <p:cNvCxnSpPr>
            <a:cxnSpLocks/>
          </p:cNvCxnSpPr>
          <p:nvPr/>
        </p:nvCxnSpPr>
        <p:spPr>
          <a:xfrm rot="5400000">
            <a:off x="-2784362" y="2552958"/>
            <a:ext cx="2354717" cy="1275770"/>
          </a:xfrm>
          <a:prstGeom prst="bentConnector3">
            <a:avLst>
              <a:gd name="adj1" fmla="val 10005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97FA0B6F-53C0-D122-DFDA-354BA80B428C}"/>
              </a:ext>
            </a:extLst>
          </p:cNvPr>
          <p:cNvCxnSpPr>
            <a:cxnSpLocks/>
            <a:stCxn id="102" idx="2"/>
          </p:cNvCxnSpPr>
          <p:nvPr/>
        </p:nvCxnSpPr>
        <p:spPr>
          <a:xfrm rot="5400000">
            <a:off x="-1443787" y="1149102"/>
            <a:ext cx="2704503" cy="42665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0BABBA8D-F2B7-8F8D-8C7F-B778B46E51F3}"/>
              </a:ext>
            </a:extLst>
          </p:cNvPr>
          <p:cNvSpPr/>
          <p:nvPr/>
        </p:nvSpPr>
        <p:spPr>
          <a:xfrm>
            <a:off x="7238260" y="4727316"/>
            <a:ext cx="1532152" cy="7592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00" dirty="0"/>
              <a:t>B_v2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E0BC51F5-B330-8365-A72E-3C7CDDA12E8D}"/>
              </a:ext>
            </a:extLst>
          </p:cNvPr>
          <p:cNvSpPr/>
          <p:nvPr/>
        </p:nvSpPr>
        <p:spPr>
          <a:xfrm>
            <a:off x="4042891" y="2996753"/>
            <a:ext cx="2213040" cy="68671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00" dirty="0" err="1"/>
              <a:t>CPT_beware</a:t>
            </a:r>
            <a:r>
              <a:rPr lang="sv-SE" sz="1100" dirty="0"/>
              <a:t> (1 and 2)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BB18191-92DD-D156-4837-9D78DBF6CDAF}"/>
              </a:ext>
            </a:extLst>
          </p:cNvPr>
          <p:cNvSpPr/>
          <p:nvPr/>
        </p:nvSpPr>
        <p:spPr>
          <a:xfrm>
            <a:off x="11990614" y="772689"/>
            <a:ext cx="1134534" cy="4995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00" dirty="0"/>
              <a:t>coastal_catch.csv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E85F0B8-EE1E-3E7E-F717-076E5809F4B1}"/>
              </a:ext>
            </a:extLst>
          </p:cNvPr>
          <p:cNvSpPr/>
          <p:nvPr/>
        </p:nvSpPr>
        <p:spPr>
          <a:xfrm>
            <a:off x="10769974" y="772689"/>
            <a:ext cx="1134534" cy="4995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00" dirty="0"/>
              <a:t>coastal_fdays.csv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C092434-4950-19ED-0ED9-0A13767B7C77}"/>
              </a:ext>
            </a:extLst>
          </p:cNvPr>
          <p:cNvSpPr/>
          <p:nvPr/>
        </p:nvSpPr>
        <p:spPr>
          <a:xfrm>
            <a:off x="8162722" y="772688"/>
            <a:ext cx="1134534" cy="4995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00" dirty="0"/>
              <a:t>recf_catch.xlsx</a:t>
            </a:r>
          </a:p>
        </p:txBody>
      </p:sp>
      <p:sp>
        <p:nvSpPr>
          <p:cNvPr id="74" name="Rectangle: Top Corners Rounded 73">
            <a:extLst>
              <a:ext uri="{FF2B5EF4-FFF2-40B4-BE49-F238E27FC236}">
                <a16:creationId xmlns:a16="http://schemas.microsoft.com/office/drawing/2014/main" id="{FAEB2F1E-8455-C46A-43C1-A3A3AAE9BB1B}"/>
              </a:ext>
            </a:extLst>
          </p:cNvPr>
          <p:cNvSpPr/>
          <p:nvPr/>
        </p:nvSpPr>
        <p:spPr>
          <a:xfrm>
            <a:off x="3985833" y="1518800"/>
            <a:ext cx="1134534" cy="499533"/>
          </a:xfrm>
          <a:prstGeom prst="round2Same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00" dirty="0"/>
              <a:t>BEWARE.net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599DE020-A723-DD59-16B6-142EDFB751B2}"/>
              </a:ext>
            </a:extLst>
          </p:cNvPr>
          <p:cNvSpPr/>
          <p:nvPr/>
        </p:nvSpPr>
        <p:spPr>
          <a:xfrm>
            <a:off x="9330790" y="4592969"/>
            <a:ext cx="1532152" cy="7592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00" dirty="0"/>
              <a:t>C</a:t>
            </a:r>
          </a:p>
        </p:txBody>
      </p:sp>
      <p:sp>
        <p:nvSpPr>
          <p:cNvPr id="82" name="Rectangle: Top Corners Rounded 81">
            <a:extLst>
              <a:ext uri="{FF2B5EF4-FFF2-40B4-BE49-F238E27FC236}">
                <a16:creationId xmlns:a16="http://schemas.microsoft.com/office/drawing/2014/main" id="{BB78697F-4959-C92C-0CE9-BD520D442735}"/>
              </a:ext>
            </a:extLst>
          </p:cNvPr>
          <p:cNvSpPr/>
          <p:nvPr/>
        </p:nvSpPr>
        <p:spPr>
          <a:xfrm>
            <a:off x="6134360" y="772689"/>
            <a:ext cx="1134534" cy="499533"/>
          </a:xfrm>
          <a:prstGeom prst="round2Same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00" dirty="0"/>
              <a:t>BEWARE_learnt.net</a:t>
            </a:r>
          </a:p>
        </p:txBody>
      </p: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6B1F682C-E9A5-F7A8-4430-B3648B823A9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48046" y="2269604"/>
            <a:ext cx="3216852" cy="161208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22DC3198-1CC1-F4EF-AB06-FEFF78C81BFF}"/>
              </a:ext>
            </a:extLst>
          </p:cNvPr>
          <p:cNvSpPr/>
          <p:nvPr/>
        </p:nvSpPr>
        <p:spPr>
          <a:xfrm>
            <a:off x="7150423" y="-857942"/>
            <a:ext cx="1134534" cy="49953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00" dirty="0"/>
              <a:t>Nodes_text.xlsx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63015A05-7D41-5B3F-445C-88A00F984304}"/>
              </a:ext>
            </a:extLst>
          </p:cNvPr>
          <p:cNvCxnSpPr>
            <a:cxnSpLocks/>
          </p:cNvCxnSpPr>
          <p:nvPr/>
        </p:nvCxnSpPr>
        <p:spPr>
          <a:xfrm>
            <a:off x="7914711" y="-339967"/>
            <a:ext cx="59108" cy="50240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C198BAFC-9C01-7502-C62E-79C62D3EDFF4}"/>
              </a:ext>
            </a:extLst>
          </p:cNvPr>
          <p:cNvSpPr/>
          <p:nvPr/>
        </p:nvSpPr>
        <p:spPr>
          <a:xfrm>
            <a:off x="2417236" y="-685648"/>
            <a:ext cx="1134534" cy="49953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00" dirty="0"/>
              <a:t>Adaptive_revised_v2.csv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0363661A-5485-0EC7-751F-5A46E0C63992}"/>
              </a:ext>
            </a:extLst>
          </p:cNvPr>
          <p:cNvSpPr/>
          <p:nvPr/>
        </p:nvSpPr>
        <p:spPr>
          <a:xfrm>
            <a:off x="7690773" y="6344490"/>
            <a:ext cx="1134534" cy="49953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00" dirty="0"/>
              <a:t>AER_SWE.csv</a:t>
            </a:r>
          </a:p>
        </p:txBody>
      </p: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B5BA43E4-4AE4-2068-E53F-7816E06910EA}"/>
              </a:ext>
            </a:extLst>
          </p:cNvPr>
          <p:cNvCxnSpPr>
            <a:cxnSpLocks/>
          </p:cNvCxnSpPr>
          <p:nvPr/>
        </p:nvCxnSpPr>
        <p:spPr>
          <a:xfrm rot="16200000" flipH="1">
            <a:off x="1794956" y="1216577"/>
            <a:ext cx="3382004" cy="865062"/>
          </a:xfrm>
          <a:prstGeom prst="bentConnector3">
            <a:avLst>
              <a:gd name="adj1" fmla="val 9986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7AB018AB-3DB7-62EF-8235-1CC50D410263}"/>
              </a:ext>
            </a:extLst>
          </p:cNvPr>
          <p:cNvSpPr/>
          <p:nvPr/>
        </p:nvSpPr>
        <p:spPr>
          <a:xfrm>
            <a:off x="1474448" y="1430569"/>
            <a:ext cx="1134534" cy="4995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00" dirty="0"/>
              <a:t>coding_report.csv</a:t>
            </a:r>
          </a:p>
        </p:txBody>
      </p: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0E5497F6-8172-8727-D962-0AD538C3B1E0}"/>
              </a:ext>
            </a:extLst>
          </p:cNvPr>
          <p:cNvCxnSpPr>
            <a:cxnSpLocks/>
          </p:cNvCxnSpPr>
          <p:nvPr/>
        </p:nvCxnSpPr>
        <p:spPr>
          <a:xfrm flipV="1">
            <a:off x="-1446359" y="2007967"/>
            <a:ext cx="3351229" cy="1442194"/>
          </a:xfrm>
          <a:prstGeom prst="bentConnector3">
            <a:avLst>
              <a:gd name="adj1" fmla="val 9941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4E70EF6A-C7AE-A184-1AFE-C9961881738A}"/>
              </a:ext>
            </a:extLst>
          </p:cNvPr>
          <p:cNvSpPr txBox="1"/>
          <p:nvPr/>
        </p:nvSpPr>
        <p:spPr>
          <a:xfrm>
            <a:off x="1681706" y="1026514"/>
            <a:ext cx="171026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050" dirty="0" err="1"/>
              <a:t>Tidy</a:t>
            </a:r>
            <a:r>
              <a:rPr lang="sv-SE" sz="1050" dirty="0"/>
              <a:t> version </a:t>
            </a:r>
            <a:r>
              <a:rPr lang="sv-SE" sz="1050" dirty="0" err="1"/>
              <a:t>of</a:t>
            </a:r>
            <a:r>
              <a:rPr lang="sv-SE" sz="1050" dirty="0"/>
              <a:t> </a:t>
            </a:r>
            <a:r>
              <a:rPr lang="sv-SE" sz="1050" dirty="0" err="1"/>
              <a:t>responses</a:t>
            </a:r>
            <a:r>
              <a:rPr lang="sv-SE" sz="1050" dirty="0"/>
              <a:t> </a:t>
            </a:r>
            <a:r>
              <a:rPr lang="sv-SE" sz="1050" dirty="0" err="1"/>
              <a:t>revised</a:t>
            </a:r>
            <a:endParaRPr lang="sv-SE" sz="1050" dirty="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7C6546CB-63DD-8842-3A8F-F46C3C40CDE1}"/>
              </a:ext>
            </a:extLst>
          </p:cNvPr>
          <p:cNvSpPr/>
          <p:nvPr/>
        </p:nvSpPr>
        <p:spPr>
          <a:xfrm>
            <a:off x="12255500" y="6719581"/>
            <a:ext cx="1358365" cy="120115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12D66549-B16F-5DA3-B64F-C9FA841B46F3}"/>
              </a:ext>
            </a:extLst>
          </p:cNvPr>
          <p:cNvCxnSpPr>
            <a:cxnSpLocks/>
          </p:cNvCxnSpPr>
          <p:nvPr/>
        </p:nvCxnSpPr>
        <p:spPr>
          <a:xfrm flipH="1" flipV="1">
            <a:off x="10076652" y="1341398"/>
            <a:ext cx="63607" cy="3142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EEF12419-5663-ADDA-F41C-7E26E8C9A8B0}"/>
              </a:ext>
            </a:extLst>
          </p:cNvPr>
          <p:cNvSpPr/>
          <p:nvPr/>
        </p:nvSpPr>
        <p:spPr>
          <a:xfrm>
            <a:off x="9478340" y="763876"/>
            <a:ext cx="1134534" cy="49953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00" dirty="0"/>
              <a:t>cost_df_v2.csv</a:t>
            </a:r>
          </a:p>
        </p:txBody>
      </p:sp>
      <p:sp>
        <p:nvSpPr>
          <p:cNvPr id="53" name="Diamond 52">
            <a:extLst>
              <a:ext uri="{FF2B5EF4-FFF2-40B4-BE49-F238E27FC236}">
                <a16:creationId xmlns:a16="http://schemas.microsoft.com/office/drawing/2014/main" id="{44D56EB6-8253-A4CA-149D-16E57164558A}"/>
              </a:ext>
            </a:extLst>
          </p:cNvPr>
          <p:cNvSpPr/>
          <p:nvPr/>
        </p:nvSpPr>
        <p:spPr>
          <a:xfrm>
            <a:off x="9275291" y="-3267910"/>
            <a:ext cx="2824408" cy="1365739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/>
              <a:t>Literature</a:t>
            </a:r>
            <a:r>
              <a:rPr lang="sv-SE" dirty="0"/>
              <a:t> data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22E9808-84AE-7A22-1279-9D678278311C}"/>
              </a:ext>
            </a:extLst>
          </p:cNvPr>
          <p:cNvSpPr/>
          <p:nvPr/>
        </p:nvSpPr>
        <p:spPr>
          <a:xfrm>
            <a:off x="12376705" y="6778740"/>
            <a:ext cx="1134534" cy="4995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00" dirty="0"/>
              <a:t>FDI 2024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6F736B0-F5C2-CE75-9B14-03032BC8EA5F}"/>
              </a:ext>
            </a:extLst>
          </p:cNvPr>
          <p:cNvSpPr/>
          <p:nvPr/>
        </p:nvSpPr>
        <p:spPr>
          <a:xfrm>
            <a:off x="12376705" y="7353181"/>
            <a:ext cx="1134534" cy="4995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00" dirty="0"/>
              <a:t>AER 2024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AD0CE73-BC99-A710-31A2-6B882A0DBC16}"/>
              </a:ext>
            </a:extLst>
          </p:cNvPr>
          <p:cNvSpPr/>
          <p:nvPr/>
        </p:nvSpPr>
        <p:spPr>
          <a:xfrm>
            <a:off x="9478340" y="-1250074"/>
            <a:ext cx="1134534" cy="4995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00" dirty="0" err="1"/>
              <a:t>SWaM</a:t>
            </a:r>
            <a:endParaRPr lang="sv-SE" sz="11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BC9012-7108-C508-4616-DDB2C1B45B72}"/>
              </a:ext>
            </a:extLst>
          </p:cNvPr>
          <p:cNvSpPr/>
          <p:nvPr/>
        </p:nvSpPr>
        <p:spPr>
          <a:xfrm>
            <a:off x="7725550" y="8337361"/>
            <a:ext cx="1134534" cy="4995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00" dirty="0"/>
              <a:t>ASFIS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A13E35B-9AEE-7A75-9F5A-319EB28E0BB0}"/>
              </a:ext>
            </a:extLst>
          </p:cNvPr>
          <p:cNvCxnSpPr>
            <a:cxnSpLocks/>
          </p:cNvCxnSpPr>
          <p:nvPr/>
        </p:nvCxnSpPr>
        <p:spPr>
          <a:xfrm flipH="1">
            <a:off x="8814100" y="-571603"/>
            <a:ext cx="810089" cy="12135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6EC2D39A-155C-CC85-5AE2-A6F3D70E75D5}"/>
              </a:ext>
            </a:extLst>
          </p:cNvPr>
          <p:cNvSpPr/>
          <p:nvPr/>
        </p:nvSpPr>
        <p:spPr>
          <a:xfrm>
            <a:off x="11190243" y="4592969"/>
            <a:ext cx="1532152" cy="7592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00" dirty="0" err="1"/>
              <a:t>C_catch</a:t>
            </a:r>
            <a:endParaRPr lang="sv-SE" sz="1100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37FDF50-123D-7902-6A9C-225E7CAC5CC4}"/>
              </a:ext>
            </a:extLst>
          </p:cNvPr>
          <p:cNvCxnSpPr>
            <a:cxnSpLocks/>
          </p:cNvCxnSpPr>
          <p:nvPr/>
        </p:nvCxnSpPr>
        <p:spPr>
          <a:xfrm flipH="1" flipV="1">
            <a:off x="11440540" y="1440863"/>
            <a:ext cx="63607" cy="3142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3AD75B0-3936-6F70-814F-684D218010CC}"/>
              </a:ext>
            </a:extLst>
          </p:cNvPr>
          <p:cNvCxnSpPr>
            <a:cxnSpLocks/>
          </p:cNvCxnSpPr>
          <p:nvPr/>
        </p:nvCxnSpPr>
        <p:spPr>
          <a:xfrm flipH="1" flipV="1">
            <a:off x="12463595" y="1440863"/>
            <a:ext cx="63607" cy="3142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56A6488-557C-4843-51C5-96B44B114142}"/>
              </a:ext>
            </a:extLst>
          </p:cNvPr>
          <p:cNvCxnSpPr>
            <a:cxnSpLocks/>
          </p:cNvCxnSpPr>
          <p:nvPr/>
        </p:nvCxnSpPr>
        <p:spPr>
          <a:xfrm>
            <a:off x="8769845" y="1440863"/>
            <a:ext cx="1104905" cy="30548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1204E052-DAF7-589C-A0DD-DDF435120A03}"/>
              </a:ext>
            </a:extLst>
          </p:cNvPr>
          <p:cNvSpPr/>
          <p:nvPr/>
        </p:nvSpPr>
        <p:spPr>
          <a:xfrm>
            <a:off x="7421655" y="6921957"/>
            <a:ext cx="1672771" cy="6297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fdi_effort_SWE_D30.csv</a:t>
            </a:r>
            <a:endParaRPr lang="sv-SE" sz="11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02E2780-CF56-1F9B-87C4-714B3A517A06}"/>
              </a:ext>
            </a:extLst>
          </p:cNvPr>
          <p:cNvSpPr/>
          <p:nvPr/>
        </p:nvSpPr>
        <p:spPr>
          <a:xfrm>
            <a:off x="7448571" y="7629659"/>
            <a:ext cx="1672771" cy="6297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fdi_catch_SWE_D30.csv</a:t>
            </a:r>
            <a:endParaRPr lang="sv-SE" sz="11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6D48B6F-20DA-F328-710C-489D4DC895B7}"/>
              </a:ext>
            </a:extLst>
          </p:cNvPr>
          <p:cNvSpPr/>
          <p:nvPr/>
        </p:nvSpPr>
        <p:spPr>
          <a:xfrm>
            <a:off x="10665639" y="8645617"/>
            <a:ext cx="2459509" cy="68671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00" dirty="0" err="1"/>
              <a:t>Step_pre_fisheries_stats</a:t>
            </a:r>
            <a:endParaRPr lang="sv-SE" sz="110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E410B43-D8F8-772B-5FCA-C60698579437}"/>
              </a:ext>
            </a:extLst>
          </p:cNvPr>
          <p:cNvCxnSpPr>
            <a:stCxn id="108" idx="2"/>
          </p:cNvCxnSpPr>
          <p:nvPr/>
        </p:nvCxnSpPr>
        <p:spPr>
          <a:xfrm flipH="1">
            <a:off x="12376705" y="7920738"/>
            <a:ext cx="557978" cy="7248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E76A7B5-A367-0478-6EF0-75170028C8C2}"/>
              </a:ext>
            </a:extLst>
          </p:cNvPr>
          <p:cNvCxnSpPr>
            <a:cxnSpLocks/>
          </p:cNvCxnSpPr>
          <p:nvPr/>
        </p:nvCxnSpPr>
        <p:spPr>
          <a:xfrm flipH="1" flipV="1">
            <a:off x="9231661" y="7548085"/>
            <a:ext cx="2105580" cy="10817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6F49A7E-A196-90F5-7401-AE493A2F38E3}"/>
              </a:ext>
            </a:extLst>
          </p:cNvPr>
          <p:cNvCxnSpPr>
            <a:cxnSpLocks/>
          </p:cNvCxnSpPr>
          <p:nvPr/>
        </p:nvCxnSpPr>
        <p:spPr>
          <a:xfrm flipV="1">
            <a:off x="9297256" y="5307782"/>
            <a:ext cx="2039985" cy="14709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617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5E7C6-9AF6-744D-D05E-86615EC3F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6DA0C-99B4-02BA-7241-F0AC1A2D3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82370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1035</TotalTime>
  <Words>212</Words>
  <Application>Microsoft Office PowerPoint</Application>
  <PresentationFormat>Widescreen</PresentationFormat>
  <Paragraphs>42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Enrico Nicola Armelloni</dc:creator>
  <cp:lastModifiedBy>Enrico Nicola Armelloni</cp:lastModifiedBy>
  <cp:revision>8</cp:revision>
  <dcterms:created xsi:type="dcterms:W3CDTF">2026-02-13T10:16:19Z</dcterms:created>
  <dcterms:modified xsi:type="dcterms:W3CDTF">2026-03-30T14:34:00Z</dcterms:modified>
</cp:coreProperties>
</file>