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906" y="9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5882A-FD0D-A26B-AD74-8695461340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51FC96-42F7-CF6F-A7FC-B9BCE28CA3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F684B-934B-2AC3-DFE9-2A7203860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16908-B0AB-30CD-6DAF-E4FF23F4A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E0A60-748B-289A-AB02-2BDB0B3A2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2616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4DD8-BA68-30C9-2859-E9D7F097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D8976-9A6C-686D-6934-99A788220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0A7E2-9D07-9ACF-1E3C-69B05A745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95EC-1CAC-85F2-11A7-CB3AA749F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889F9-CC15-339D-1788-D5677D6E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73887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49728-FFBB-0A6D-5669-DA22FFA86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76943-CEEA-C7CA-AE07-6D5726DF8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3D321-7064-926B-8B8D-D4667D5B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93D83-6696-A3B3-44E3-1B1B5395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730F0-15C6-FF46-F8D1-6CF97FD7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7031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2207-39D4-C4A3-E30E-6A807B37C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EAB7F-2B65-E588-74ED-E5E3E32169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91998-8F7C-FF63-73FC-1AA3B42E9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EEF74B-2FF4-376F-E763-7A5336C4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CACE29-83E0-E672-945E-424D8E51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19B60-744C-55F8-CFF5-90F13FF6E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30444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15F7A-0CF1-6D84-DE24-4CC4880B1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BB8340-3E61-0A9E-2AA3-96DE93CA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DFD3C-62CC-5B2A-C453-0E06AAC48F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B5AD06-1527-D35D-8A9E-232D5FD4A8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78CF5-C36C-3E5A-821B-3885FC0C15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ED587E-8E52-7931-9B4D-B6ECBC4D2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4E6804-102D-DDE1-F2F5-156FB7FE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649F8D-9E27-149C-27C8-3E721BF42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14413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E3B7C-F70C-797D-D222-277434436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FBCAC3-7702-CCFF-0CF8-2BF6500BF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112C9-5D07-037E-2010-A24EA686E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31AD17-CAF0-95ED-8132-CE6AE519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547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B9B6F5-40AF-D516-EA7F-68DE17468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172DE7-92BC-3D5F-815D-1E8BC61A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CCDE-C337-408E-F671-EF6A5952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15083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AC221-281F-92EE-FECB-5EF21A3A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C9800-31F0-7DB3-E697-960AFC5CA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47CD3-242F-D1D7-6367-968EA1BF7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8959C-6353-E79E-5FA2-3F693C8BF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F0140-F519-5C6A-4719-4FEE1F0A6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E7359-F8DF-F680-685E-8B29B232B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08104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C97BE-43E8-2F7C-BD61-7DBBB8ABF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2B21F-4539-245B-C617-3C409A4F00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B24BDF-30AA-D077-AAEC-375F7B2C3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0293B-C375-58BB-AC4D-D603D1CFC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1FD5A0-903A-EB4A-1755-83D4CAF31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7CF68-3269-2908-CC51-B750B243C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827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D3EAE-A1BA-828F-5D10-F041292BC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B8309-3647-4503-ECA7-9F13DE7E7A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0D0B6-85BF-EC4D-6608-1268601BE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B55C3-1EC3-CD80-E63A-9C8459AD0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055D1-8A19-75B8-69E2-7966FC10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02656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C2A0E9-0D8B-383E-08BF-D9F8AF441E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194DD-3A50-8CFA-7B5B-5CB4C3BC7A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C1F44B-3437-CA4F-A663-94DFB055A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82FC1-C768-BB53-71D6-291E75A4B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B308E-BF1A-07B9-191A-B1E299B17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70228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9F9A42-FB95-6311-D2AA-CED90E8A2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F03BF5-EC9E-F264-858D-93664FF9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14362-839D-8A43-E1B5-53186D0090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B9380-D9C8-4A6F-988E-863DD0B42BDC}" type="datetimeFigureOut">
              <a:rPr lang="sv-SE" smtClean="0"/>
              <a:t>2025-12-12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227C7-D92A-DA07-CD69-4191F1FB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43A5C-ECE7-EF93-6AB4-CD7B7E23A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8522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02772-3B70-F94A-959A-93BBEE1616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63F8A5-69F6-D4DE-5765-4219074AAC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515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CC8A6-5662-19C2-BE7B-33ABA4D03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012CA8-C86B-4914-47F3-51534B8152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0"/>
          <a:stretch>
            <a:fillRect/>
          </a:stretch>
        </p:blipFill>
        <p:spPr>
          <a:xfrm>
            <a:off x="2951625" y="1972733"/>
            <a:ext cx="6153283" cy="4187296"/>
          </a:xfrm>
        </p:spPr>
      </p:pic>
    </p:spTree>
    <p:extLst>
      <p:ext uri="{BB962C8B-B14F-4D97-AF65-F5344CB8AC3E}">
        <p14:creationId xmlns:p14="http://schemas.microsoft.com/office/powerpoint/2010/main" val="2121836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383470-6CEB-BFB4-E4F8-DA5CAB6D0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38100"/>
            <a:ext cx="9334500" cy="67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223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461714-7416-6C7F-6828-0B7725FFF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612" y="404812"/>
            <a:ext cx="8486775" cy="604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807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0D9D76-CB3B-D7F8-83F2-8D1D377FA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998"/>
          <a:stretch>
            <a:fillRect/>
          </a:stretch>
        </p:blipFill>
        <p:spPr>
          <a:xfrm>
            <a:off x="1484243" y="901435"/>
            <a:ext cx="9567495" cy="4018436"/>
          </a:xfrm>
          <a:prstGeom prst="rect">
            <a:avLst/>
          </a:prstGeom>
        </p:spPr>
      </p:pic>
      <p:pic>
        <p:nvPicPr>
          <p:cNvPr id="1026" name="Picture 2" descr="Herring Fish silhouette illustration, Silhouette of Herring Fish clip art  47099387 Vector Art at Vecteezy">
            <a:extLst>
              <a:ext uri="{FF2B5EF4-FFF2-40B4-BE49-F238E27FC236}">
                <a16:creationId xmlns:a16="http://schemas.microsoft.com/office/drawing/2014/main" id="{7F299A01-EBA0-BDCC-F732-E4FC95F31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6922" r="93672">
                        <a14:foregroundMark x1="8570" y1="44082" x2="12129" y2="51020"/>
                        <a14:foregroundMark x1="9624" y1="61633" x2="7119" y2="64388"/>
                        <a14:foregroundMark x1="91562" y1="47653" x2="89387" y2="48878"/>
                        <a14:foregroundMark x1="92947" y1="54082" x2="91892" y2="54490"/>
                        <a14:foregroundMark x1="93672" y1="48265" x2="92881" y2="482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6083" y="1172819"/>
            <a:ext cx="553856" cy="35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Herring Fish silhouette illustration, Silhouette of Herring Fish clip art  47099387 Vector Art at Vecteezy">
            <a:extLst>
              <a:ext uri="{FF2B5EF4-FFF2-40B4-BE49-F238E27FC236}">
                <a16:creationId xmlns:a16="http://schemas.microsoft.com/office/drawing/2014/main" id="{869676E6-9F02-12E6-B3DB-F1790D4A57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6922" r="93672">
                        <a14:foregroundMark x1="8570" y1="44082" x2="12129" y2="51020"/>
                        <a14:foregroundMark x1="9624" y1="61633" x2="7119" y2="64388"/>
                        <a14:foregroundMark x1="91562" y1="47653" x2="89387" y2="48878"/>
                        <a14:foregroundMark x1="92947" y1="54082" x2="91892" y2="54490"/>
                        <a14:foregroundMark x1="93672" y1="48265" x2="92881" y2="482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6083" y="2378767"/>
            <a:ext cx="553856" cy="35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Herring Fish silhouette illustration, Silhouette of Herring Fish clip art  47099387 Vector Art at Vecteezy">
            <a:extLst>
              <a:ext uri="{FF2B5EF4-FFF2-40B4-BE49-F238E27FC236}">
                <a16:creationId xmlns:a16="http://schemas.microsoft.com/office/drawing/2014/main" id="{517069B4-87A7-D9C1-8907-D351D03F5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6922" r="93672">
                        <a14:foregroundMark x1="8570" y1="44082" x2="12129" y2="51020"/>
                        <a14:foregroundMark x1="9624" y1="61633" x2="7119" y2="64388"/>
                        <a14:foregroundMark x1="91562" y1="47653" x2="89387" y2="48878"/>
                        <a14:foregroundMark x1="92947" y1="54082" x2="91892" y2="54490"/>
                        <a14:foregroundMark x1="93672" y1="48265" x2="92881" y2="482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2152" y="2826026"/>
            <a:ext cx="553856" cy="35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Herring Fish silhouette illustration, Silhouette of Herring Fish clip art  47099387 Vector Art at Vecteezy">
            <a:extLst>
              <a:ext uri="{FF2B5EF4-FFF2-40B4-BE49-F238E27FC236}">
                <a16:creationId xmlns:a16="http://schemas.microsoft.com/office/drawing/2014/main" id="{B56D8D39-E602-8AAC-6543-0A943D212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6922" r="93672">
                        <a14:foregroundMark x1="8570" y1="44082" x2="12129" y2="51020"/>
                        <a14:foregroundMark x1="9624" y1="61633" x2="7119" y2="64388"/>
                        <a14:foregroundMark x1="91562" y1="47653" x2="89387" y2="48878"/>
                        <a14:foregroundMark x1="92947" y1="54082" x2="91892" y2="54490"/>
                        <a14:foregroundMark x1="93672" y1="48265" x2="92881" y2="482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2152" y="4031974"/>
            <a:ext cx="553856" cy="35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Herring Fish silhouette illustration, Silhouette of Herring Fish clip art  47099387 Vector Art at Vecteezy">
            <a:extLst>
              <a:ext uri="{FF2B5EF4-FFF2-40B4-BE49-F238E27FC236}">
                <a16:creationId xmlns:a16="http://schemas.microsoft.com/office/drawing/2014/main" id="{2A09660E-3F18-81F9-01DC-40911FF5F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6922" r="93672">
                        <a14:foregroundMark x1="8570" y1="44082" x2="12129" y2="51020"/>
                        <a14:foregroundMark x1="9624" y1="61633" x2="7119" y2="64388"/>
                        <a14:foregroundMark x1="91562" y1="47653" x2="89387" y2="48878"/>
                        <a14:foregroundMark x1="92947" y1="54082" x2="91892" y2="54490"/>
                        <a14:foregroundMark x1="93672" y1="48265" x2="92881" y2="482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4413" y="4919871"/>
            <a:ext cx="553856" cy="35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Herring Fish silhouette illustration, Silhouette of Herring Fish clip art  47099387 Vector Art at Vecteezy">
            <a:extLst>
              <a:ext uri="{FF2B5EF4-FFF2-40B4-BE49-F238E27FC236}">
                <a16:creationId xmlns:a16="http://schemas.microsoft.com/office/drawing/2014/main" id="{22E2439E-A76E-6CCE-EDCD-8A5E51D7C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6922" r="93672">
                        <a14:foregroundMark x1="8570" y1="44082" x2="12129" y2="51020"/>
                        <a14:foregroundMark x1="9624" y1="61633" x2="7119" y2="64388"/>
                        <a14:foregroundMark x1="91562" y1="47653" x2="89387" y2="48878"/>
                        <a14:foregroundMark x1="92947" y1="54082" x2="91892" y2="54490"/>
                        <a14:foregroundMark x1="93672" y1="48265" x2="92881" y2="482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6998" y="4921483"/>
            <a:ext cx="553856" cy="35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F553DE3-3EA7-770E-3110-54254938D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82" t="84758" r="30967"/>
          <a:stretch>
            <a:fillRect/>
          </a:stretch>
        </p:blipFill>
        <p:spPr>
          <a:xfrm>
            <a:off x="7384774" y="4753216"/>
            <a:ext cx="3200400" cy="72915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53FB246-06F7-598A-F54F-3C0220526CEA}"/>
              </a:ext>
            </a:extLst>
          </p:cNvPr>
          <p:cNvSpPr txBox="1"/>
          <p:nvPr/>
        </p:nvSpPr>
        <p:spPr>
          <a:xfrm>
            <a:off x="2072152" y="4960925"/>
            <a:ext cx="11438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 dirty="0"/>
              <a:t>Stock status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05C842-A983-F53B-6E82-F34E684D35E3}"/>
              </a:ext>
            </a:extLst>
          </p:cNvPr>
          <p:cNvSpPr txBox="1"/>
          <p:nvPr/>
        </p:nvSpPr>
        <p:spPr>
          <a:xfrm>
            <a:off x="3954515" y="4960925"/>
            <a:ext cx="5856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200" dirty="0" err="1"/>
              <a:t>worse</a:t>
            </a:r>
            <a:endParaRPr lang="sv-SE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3FCCC0-F972-15CF-1EEF-D0517962E005}"/>
              </a:ext>
            </a:extLst>
          </p:cNvPr>
          <p:cNvSpPr txBox="1"/>
          <p:nvPr/>
        </p:nvSpPr>
        <p:spPr>
          <a:xfrm>
            <a:off x="5231923" y="4970859"/>
            <a:ext cx="58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200" dirty="0" err="1"/>
              <a:t>better</a:t>
            </a:r>
            <a:endParaRPr lang="sv-SE" sz="1400" dirty="0"/>
          </a:p>
        </p:txBody>
      </p:sp>
    </p:spTree>
    <p:extLst>
      <p:ext uri="{BB962C8B-B14F-4D97-AF65-F5344CB8AC3E}">
        <p14:creationId xmlns:p14="http://schemas.microsoft.com/office/powerpoint/2010/main" val="2199517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AEDF6-EFD7-33D0-B8EA-26E4C91E6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E97C9E-F3EA-114E-1C61-13A1271B5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25" y="1139753"/>
            <a:ext cx="9571550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612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25C1613-2D2D-4AAC-9FD8-6590983E9FAF}"/>
              </a:ext>
            </a:extLst>
          </p:cNvPr>
          <p:cNvSpPr/>
          <p:nvPr/>
        </p:nvSpPr>
        <p:spPr>
          <a:xfrm>
            <a:off x="-1374045" y="5058089"/>
            <a:ext cx="11262167" cy="31460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CAB0F5-9C95-D8C9-F0D3-C08DA2BD4A18}"/>
              </a:ext>
            </a:extLst>
          </p:cNvPr>
          <p:cNvSpPr/>
          <p:nvPr/>
        </p:nvSpPr>
        <p:spPr>
          <a:xfrm>
            <a:off x="-1374044" y="2439846"/>
            <a:ext cx="11262167" cy="261883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4FB078-A7C6-79AD-351E-585789E07257}"/>
              </a:ext>
            </a:extLst>
          </p:cNvPr>
          <p:cNvSpPr/>
          <p:nvPr/>
        </p:nvSpPr>
        <p:spPr>
          <a:xfrm>
            <a:off x="-1374046" y="-1452545"/>
            <a:ext cx="11262167" cy="38969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C0D018-E7D8-4D0A-2333-34047C8ED295}"/>
              </a:ext>
            </a:extLst>
          </p:cNvPr>
          <p:cNvSpPr/>
          <p:nvPr/>
        </p:nvSpPr>
        <p:spPr>
          <a:xfrm>
            <a:off x="4559174" y="701908"/>
            <a:ext cx="1026158" cy="1130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75BE4D-FE74-6149-638D-137F3CF05F44}"/>
              </a:ext>
            </a:extLst>
          </p:cNvPr>
          <p:cNvSpPr/>
          <p:nvPr/>
        </p:nvSpPr>
        <p:spPr>
          <a:xfrm>
            <a:off x="4559173" y="3290070"/>
            <a:ext cx="1026159" cy="8840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722066-EA7F-BFEB-D509-E331C36EFC81}"/>
              </a:ext>
            </a:extLst>
          </p:cNvPr>
          <p:cNvSpPr/>
          <p:nvPr/>
        </p:nvSpPr>
        <p:spPr>
          <a:xfrm>
            <a:off x="4559173" y="6014599"/>
            <a:ext cx="1026159" cy="9245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03FEC330-D253-8914-8AAC-FB728E5DF4D5}"/>
              </a:ext>
            </a:extLst>
          </p:cNvPr>
          <p:cNvSpPr/>
          <p:nvPr/>
        </p:nvSpPr>
        <p:spPr>
          <a:xfrm>
            <a:off x="3276600" y="3290070"/>
            <a:ext cx="1026160" cy="904240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D4969B7-1F15-F2AB-FDA5-5EF776B3E013}"/>
              </a:ext>
            </a:extLst>
          </p:cNvPr>
          <p:cNvSpPr/>
          <p:nvPr/>
        </p:nvSpPr>
        <p:spPr>
          <a:xfrm>
            <a:off x="3230880" y="822671"/>
            <a:ext cx="1026160" cy="904240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9FF348C-2207-5298-0340-EE70C0455D75}"/>
              </a:ext>
            </a:extLst>
          </p:cNvPr>
          <p:cNvSpPr/>
          <p:nvPr/>
        </p:nvSpPr>
        <p:spPr>
          <a:xfrm>
            <a:off x="6488318" y="3318676"/>
            <a:ext cx="934720" cy="833120"/>
          </a:xfrm>
          <a:prstGeom prst="ellipse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8FDC6E0-0FAA-A429-AE1D-64FAD0AABF13}"/>
              </a:ext>
            </a:extLst>
          </p:cNvPr>
          <p:cNvSpPr/>
          <p:nvPr/>
        </p:nvSpPr>
        <p:spPr>
          <a:xfrm>
            <a:off x="3345179" y="6040377"/>
            <a:ext cx="934720" cy="833120"/>
          </a:xfrm>
          <a:prstGeom prst="ellipse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C4617BC-EDFC-5523-7DAC-1815EF5B7D07}"/>
              </a:ext>
            </a:extLst>
          </p:cNvPr>
          <p:cNvSpPr/>
          <p:nvPr/>
        </p:nvSpPr>
        <p:spPr>
          <a:xfrm>
            <a:off x="3276600" y="-1016000"/>
            <a:ext cx="934720" cy="833120"/>
          </a:xfrm>
          <a:prstGeom prst="ellipse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24082D-F433-4F29-05DC-2FD893B81523}"/>
              </a:ext>
            </a:extLst>
          </p:cNvPr>
          <p:cNvSpPr txBox="1"/>
          <p:nvPr/>
        </p:nvSpPr>
        <p:spPr>
          <a:xfrm rot="16200000">
            <a:off x="-1436951" y="284042"/>
            <a:ext cx="919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Cycle</a:t>
            </a:r>
            <a:r>
              <a:rPr lang="sv-SE" dirty="0"/>
              <a:t>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19C490-2DA9-4C49-AD8B-C7E5488B7FFA}"/>
              </a:ext>
            </a:extLst>
          </p:cNvPr>
          <p:cNvSpPr txBox="1"/>
          <p:nvPr/>
        </p:nvSpPr>
        <p:spPr>
          <a:xfrm rot="16200000">
            <a:off x="-1436952" y="3359450"/>
            <a:ext cx="919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Cycle</a:t>
            </a:r>
            <a:r>
              <a:rPr lang="sv-SE" dirty="0"/>
              <a:t>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C1D402-8C1E-98EA-8F23-416445E19BFD}"/>
              </a:ext>
            </a:extLst>
          </p:cNvPr>
          <p:cNvSpPr txBox="1"/>
          <p:nvPr/>
        </p:nvSpPr>
        <p:spPr>
          <a:xfrm rot="16200000">
            <a:off x="-1469984" y="6039071"/>
            <a:ext cx="919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err="1"/>
              <a:t>Cycle</a:t>
            </a:r>
            <a:r>
              <a:rPr lang="sv-SE" dirty="0"/>
              <a:t> 3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386693C-22EA-2705-DED8-00D000813E72}"/>
              </a:ext>
            </a:extLst>
          </p:cNvPr>
          <p:cNvCxnSpPr>
            <a:cxnSpLocks/>
            <a:stCxn id="13" idx="4"/>
            <a:endCxn id="10" idx="0"/>
          </p:cNvCxnSpPr>
          <p:nvPr/>
        </p:nvCxnSpPr>
        <p:spPr>
          <a:xfrm>
            <a:off x="3743960" y="-182880"/>
            <a:ext cx="0" cy="1005551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F61FFE-9AA9-609D-113D-1CBD93EEE9A1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 flipV="1">
            <a:off x="4257040" y="1267010"/>
            <a:ext cx="302134" cy="7781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FD94913-FE23-2F5A-66C7-A8DACEE53240}"/>
              </a:ext>
            </a:extLst>
          </p:cNvPr>
          <p:cNvCxnSpPr>
            <a:cxnSpLocks/>
            <a:stCxn id="7" idx="1"/>
            <a:endCxn id="9" idx="3"/>
          </p:cNvCxnSpPr>
          <p:nvPr/>
        </p:nvCxnSpPr>
        <p:spPr>
          <a:xfrm flipH="1">
            <a:off x="4302760" y="3732079"/>
            <a:ext cx="256413" cy="10111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5DFE4E-2E78-5C85-93D2-9C36E846377D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>
            <a:off x="3789680" y="4194310"/>
            <a:ext cx="22859" cy="1846067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847152E-C70C-DFB8-070B-DDD6752D83B2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4279899" y="6456937"/>
            <a:ext cx="279274" cy="19945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5BEAA65-27AD-4124-82C3-770467E05FF2}"/>
              </a:ext>
            </a:extLst>
          </p:cNvPr>
          <p:cNvCxnSpPr>
            <a:cxnSpLocks/>
            <a:stCxn id="11" idx="2"/>
            <a:endCxn id="7" idx="3"/>
          </p:cNvCxnSpPr>
          <p:nvPr/>
        </p:nvCxnSpPr>
        <p:spPr>
          <a:xfrm flipH="1" flipV="1">
            <a:off x="5585332" y="3732079"/>
            <a:ext cx="902986" cy="3157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1D91B41F-CD35-1BBE-86F4-D05A092FE63F}"/>
              </a:ext>
            </a:extLst>
          </p:cNvPr>
          <p:cNvSpPr/>
          <p:nvPr/>
        </p:nvSpPr>
        <p:spPr>
          <a:xfrm>
            <a:off x="7423038" y="6569917"/>
            <a:ext cx="467360" cy="398971"/>
          </a:xfrm>
          <a:prstGeom prst="ellipse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1" name="Diamond 50">
            <a:extLst>
              <a:ext uri="{FF2B5EF4-FFF2-40B4-BE49-F238E27FC236}">
                <a16:creationId xmlns:a16="http://schemas.microsoft.com/office/drawing/2014/main" id="{359A7306-5070-93B2-3318-D91BA1250FBC}"/>
              </a:ext>
            </a:extLst>
          </p:cNvPr>
          <p:cNvSpPr/>
          <p:nvPr/>
        </p:nvSpPr>
        <p:spPr>
          <a:xfrm>
            <a:off x="7423038" y="7397583"/>
            <a:ext cx="513080" cy="452120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496E8-CAA3-6B91-0FBD-90E132F68D47}"/>
              </a:ext>
            </a:extLst>
          </p:cNvPr>
          <p:cNvSpPr txBox="1"/>
          <p:nvPr/>
        </p:nvSpPr>
        <p:spPr>
          <a:xfrm>
            <a:off x="-311374" y="-131653"/>
            <a:ext cx="311667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/>
              <a:t>MEW:  6 events</a:t>
            </a:r>
          </a:p>
          <a:p>
            <a:endParaRPr lang="sv-S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 err="1"/>
              <a:t>Operational</a:t>
            </a:r>
            <a:r>
              <a:rPr lang="sv-SE" sz="1600" dirty="0"/>
              <a:t>: long list </a:t>
            </a:r>
            <a:r>
              <a:rPr lang="sv-SE" sz="1600" dirty="0" err="1"/>
              <a:t>of</a:t>
            </a:r>
            <a:r>
              <a:rPr lang="sv-SE" sz="1600" dirty="0"/>
              <a:t> </a:t>
            </a:r>
            <a:r>
              <a:rPr lang="sv-SE" sz="1600" dirty="0" err="1"/>
              <a:t>detailed</a:t>
            </a:r>
            <a:r>
              <a:rPr lang="sv-SE" sz="1600" dirty="0"/>
              <a:t> </a:t>
            </a:r>
            <a:r>
              <a:rPr lang="sv-SE" sz="1600" dirty="0" err="1"/>
              <a:t>variabled</a:t>
            </a:r>
            <a:endParaRPr lang="sv-SE" sz="1600" dirty="0"/>
          </a:p>
          <a:p>
            <a:endParaRPr lang="sv-S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/>
              <a:t>Socio </a:t>
            </a:r>
            <a:r>
              <a:rPr lang="sv-SE" sz="1600" dirty="0" err="1"/>
              <a:t>economic</a:t>
            </a:r>
            <a:r>
              <a:rPr lang="sv-SE" sz="1600" dirty="0"/>
              <a:t>: 2 </a:t>
            </a:r>
            <a:r>
              <a:rPr lang="sv-SE" sz="1600" dirty="0" err="1"/>
              <a:t>borad</a:t>
            </a:r>
            <a:r>
              <a:rPr lang="sv-SE" sz="1600" dirty="0"/>
              <a:t> </a:t>
            </a:r>
            <a:r>
              <a:rPr lang="sv-SE" sz="1600" dirty="0" err="1"/>
              <a:t>categories</a:t>
            </a:r>
            <a:r>
              <a:rPr lang="sv-SE" sz="1600" dirty="0"/>
              <a:t>  </a:t>
            </a:r>
          </a:p>
        </p:txBody>
      </p:sp>
      <p:sp>
        <p:nvSpPr>
          <p:cNvPr id="53" name="Diamond 52">
            <a:extLst>
              <a:ext uri="{FF2B5EF4-FFF2-40B4-BE49-F238E27FC236}">
                <a16:creationId xmlns:a16="http://schemas.microsoft.com/office/drawing/2014/main" id="{96C50227-5A15-A621-0829-0C2305F324A8}"/>
              </a:ext>
            </a:extLst>
          </p:cNvPr>
          <p:cNvSpPr/>
          <p:nvPr/>
        </p:nvSpPr>
        <p:spPr>
          <a:xfrm>
            <a:off x="6488318" y="788655"/>
            <a:ext cx="1026160" cy="904240"/>
          </a:xfrm>
          <a:prstGeom prst="diamon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0F5577-A5E1-7DCE-D90D-0EE691F388D2}"/>
              </a:ext>
            </a:extLst>
          </p:cNvPr>
          <p:cNvCxnSpPr>
            <a:cxnSpLocks/>
            <a:stCxn id="6" idx="3"/>
            <a:endCxn id="53" idx="1"/>
          </p:cNvCxnSpPr>
          <p:nvPr/>
        </p:nvCxnSpPr>
        <p:spPr>
          <a:xfrm flipV="1">
            <a:off x="5585332" y="1240775"/>
            <a:ext cx="902986" cy="26235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FECFEA0-4A9E-D2E4-9B1B-6219A9824E13}"/>
              </a:ext>
            </a:extLst>
          </p:cNvPr>
          <p:cNvCxnSpPr>
            <a:cxnSpLocks/>
            <a:stCxn id="53" idx="2"/>
          </p:cNvCxnSpPr>
          <p:nvPr/>
        </p:nvCxnSpPr>
        <p:spPr>
          <a:xfrm>
            <a:off x="7001398" y="1692895"/>
            <a:ext cx="25496" cy="1618848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7858F73-FA08-FD99-1282-F82D0B9B1B3E}"/>
              </a:ext>
            </a:extLst>
          </p:cNvPr>
          <p:cNvSpPr txBox="1"/>
          <p:nvPr/>
        </p:nvSpPr>
        <p:spPr>
          <a:xfrm>
            <a:off x="-138575" y="2972698"/>
            <a:ext cx="31166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/>
              <a:t>MEW:  </a:t>
            </a:r>
            <a:r>
              <a:rPr lang="sv-SE" sz="1600" dirty="0" err="1"/>
              <a:t>confirmed</a:t>
            </a:r>
            <a:endParaRPr lang="sv-SE" sz="1600" dirty="0"/>
          </a:p>
          <a:p>
            <a:endParaRPr lang="sv-S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 err="1"/>
              <a:t>Operational</a:t>
            </a:r>
            <a:r>
              <a:rPr lang="sv-SE" sz="1600" dirty="0"/>
              <a:t>: </a:t>
            </a:r>
            <a:r>
              <a:rPr lang="sv-SE" sz="1600" dirty="0" err="1"/>
              <a:t>simplified</a:t>
            </a:r>
            <a:r>
              <a:rPr lang="sv-SE" sz="1600" dirty="0"/>
              <a:t> to 6</a:t>
            </a:r>
          </a:p>
          <a:p>
            <a:endParaRPr lang="sv-S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/>
              <a:t>Socio </a:t>
            </a:r>
            <a:r>
              <a:rPr lang="sv-SE" sz="1600" dirty="0" err="1"/>
              <a:t>economic</a:t>
            </a:r>
            <a:r>
              <a:rPr lang="sv-SE" sz="1600" dirty="0"/>
              <a:t>: </a:t>
            </a:r>
            <a:r>
              <a:rPr lang="sv-SE" sz="1600" dirty="0" err="1"/>
              <a:t>expanded</a:t>
            </a:r>
            <a:r>
              <a:rPr lang="sv-SE" sz="1600" dirty="0"/>
              <a:t> to 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2565C75-A53D-ECBC-CDBF-71B8CABE7BDA}"/>
              </a:ext>
            </a:extLst>
          </p:cNvPr>
          <p:cNvSpPr txBox="1"/>
          <p:nvPr/>
        </p:nvSpPr>
        <p:spPr>
          <a:xfrm>
            <a:off x="-350520" y="5322720"/>
            <a:ext cx="311667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/>
              <a:t>MEW:  </a:t>
            </a:r>
            <a:r>
              <a:rPr lang="sv-SE" sz="1600" dirty="0" err="1"/>
              <a:t>confirmed</a:t>
            </a:r>
            <a:r>
              <a:rPr lang="sv-SE" sz="1600" dirty="0"/>
              <a:t> and </a:t>
            </a:r>
            <a:r>
              <a:rPr lang="sv-SE" sz="1600" dirty="0" err="1"/>
              <a:t>validated</a:t>
            </a:r>
            <a:r>
              <a:rPr lang="sv-SE" sz="1600" dirty="0"/>
              <a:t> as </a:t>
            </a:r>
            <a:r>
              <a:rPr lang="sv-SE" sz="1600" dirty="0" err="1"/>
              <a:t>mutually</a:t>
            </a:r>
            <a:r>
              <a:rPr lang="sv-SE" sz="1600" dirty="0"/>
              <a:t> </a:t>
            </a:r>
            <a:r>
              <a:rPr lang="sv-SE" sz="1600" dirty="0" err="1"/>
              <a:t>exclusive</a:t>
            </a:r>
            <a:endParaRPr lang="sv-SE" sz="1600" dirty="0"/>
          </a:p>
          <a:p>
            <a:endParaRPr lang="sv-S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 err="1"/>
              <a:t>Operational</a:t>
            </a:r>
            <a:r>
              <a:rPr lang="sv-SE" sz="1600" dirty="0"/>
              <a:t>: </a:t>
            </a:r>
            <a:r>
              <a:rPr lang="sv-SE" sz="1600" dirty="0" err="1"/>
              <a:t>revised</a:t>
            </a:r>
            <a:r>
              <a:rPr lang="sv-SE" sz="1600" dirty="0"/>
              <a:t> to </a:t>
            </a:r>
            <a:r>
              <a:rPr lang="sv-SE" sz="1600" dirty="0" err="1"/>
              <a:t>accommodate</a:t>
            </a:r>
            <a:r>
              <a:rPr lang="sv-SE" sz="1600" dirty="0"/>
              <a:t> </a:t>
            </a:r>
            <a:r>
              <a:rPr lang="sv-SE" sz="1600" dirty="0" err="1"/>
              <a:t>gear</a:t>
            </a:r>
            <a:r>
              <a:rPr lang="sv-SE" sz="1600" dirty="0"/>
              <a:t>, </a:t>
            </a:r>
            <a:r>
              <a:rPr lang="sv-SE" sz="1600" dirty="0" err="1"/>
              <a:t>target</a:t>
            </a:r>
            <a:r>
              <a:rPr lang="sv-SE" sz="1600" dirty="0"/>
              <a:t> species and </a:t>
            </a:r>
            <a:r>
              <a:rPr lang="sv-SE" sz="1600" dirty="0" err="1"/>
              <a:t>strategies</a:t>
            </a:r>
            <a:endParaRPr lang="sv-SE" sz="1600" dirty="0"/>
          </a:p>
          <a:p>
            <a:endParaRPr lang="sv-S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600" dirty="0"/>
              <a:t>Socio </a:t>
            </a:r>
            <a:r>
              <a:rPr lang="sv-SE" sz="1600" dirty="0" err="1"/>
              <a:t>economic</a:t>
            </a:r>
            <a:r>
              <a:rPr lang="sv-SE" sz="1600" dirty="0"/>
              <a:t>: </a:t>
            </a:r>
            <a:r>
              <a:rPr lang="sv-SE" sz="1600" dirty="0" err="1"/>
              <a:t>confirmed</a:t>
            </a:r>
            <a:endParaRPr lang="sv-SE" sz="1600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41A6DB1-0D7C-41E8-C50D-2601BCC6C323}"/>
              </a:ext>
            </a:extLst>
          </p:cNvPr>
          <p:cNvSpPr/>
          <p:nvPr/>
        </p:nvSpPr>
        <p:spPr>
          <a:xfrm>
            <a:off x="7378348" y="5771617"/>
            <a:ext cx="495302" cy="39897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A0167F1-59ED-71AB-0DD2-D9857B8EC868}"/>
              </a:ext>
            </a:extLst>
          </p:cNvPr>
          <p:cNvSpPr/>
          <p:nvPr/>
        </p:nvSpPr>
        <p:spPr>
          <a:xfrm>
            <a:off x="7026894" y="5065615"/>
            <a:ext cx="2861227" cy="3138507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EA61BAC-124F-F8C2-BF4C-891DD50FF2D2}"/>
              </a:ext>
            </a:extLst>
          </p:cNvPr>
          <p:cNvSpPr txBox="1"/>
          <p:nvPr/>
        </p:nvSpPr>
        <p:spPr>
          <a:xfrm>
            <a:off x="8001837" y="5167308"/>
            <a:ext cx="911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Legend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6B9D231-52D0-F24B-C3CC-D7F6235AB7CE}"/>
              </a:ext>
            </a:extLst>
          </p:cNvPr>
          <p:cNvSpPr txBox="1"/>
          <p:nvPr/>
        </p:nvSpPr>
        <p:spPr>
          <a:xfrm>
            <a:off x="7890398" y="5768696"/>
            <a:ext cx="17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List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variables</a:t>
            </a:r>
            <a:endParaRPr lang="sv-SE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9828890-BBAF-3897-5B93-D982D786F0E5}"/>
              </a:ext>
            </a:extLst>
          </p:cNvPr>
          <p:cNvSpPr txBox="1"/>
          <p:nvPr/>
        </p:nvSpPr>
        <p:spPr>
          <a:xfrm>
            <a:off x="8007518" y="6420641"/>
            <a:ext cx="1617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Revision from scientist team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9ED20C9-62B9-76CA-4BB9-221689094127}"/>
              </a:ext>
            </a:extLst>
          </p:cNvPr>
          <p:cNvSpPr txBox="1"/>
          <p:nvPr/>
        </p:nvSpPr>
        <p:spPr>
          <a:xfrm>
            <a:off x="8007518" y="7259537"/>
            <a:ext cx="1617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/>
              <a:t>Interview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fishers</a:t>
            </a:r>
            <a:endParaRPr lang="sv-S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37FBD6-5AE3-4C0E-2AF2-237C2CDB5F99}"/>
              </a:ext>
            </a:extLst>
          </p:cNvPr>
          <p:cNvSpPr txBox="1"/>
          <p:nvPr/>
        </p:nvSpPr>
        <p:spPr>
          <a:xfrm>
            <a:off x="2766157" y="-1372477"/>
            <a:ext cx="2124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/>
              <a:t>Preparatory</a:t>
            </a:r>
            <a:r>
              <a:rPr lang="sv-SE" dirty="0"/>
              <a:t> </a:t>
            </a:r>
            <a:r>
              <a:rPr lang="sv-SE" dirty="0" err="1"/>
              <a:t>work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235467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12A6E5-3E6C-43A9-1145-4C4D92F9F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741" y="0"/>
            <a:ext cx="79945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58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1058</TotalTime>
  <Words>77</Words>
  <Application>Microsoft Office PowerPoint</Application>
  <PresentationFormat>Widescreen</PresentationFormat>
  <Paragraphs>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Enrico Nicola Armelloni</dc:creator>
  <cp:lastModifiedBy>Enrico Nicola Armelloni</cp:lastModifiedBy>
  <cp:revision>6</cp:revision>
  <dcterms:created xsi:type="dcterms:W3CDTF">2025-11-11T10:49:39Z</dcterms:created>
  <dcterms:modified xsi:type="dcterms:W3CDTF">2025-12-12T16:35:17Z</dcterms:modified>
</cp:coreProperties>
</file>